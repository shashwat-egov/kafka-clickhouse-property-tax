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25"/>
    <p:sldId id="269" r:id="rId24"/>
    <p:sldId id="270" r:id="rId23"/>
    <p:sldId id="271" r:id="rId22"/>
    <p:sldId id="272" r:id="rId21"/>
    <p:sldId id="273" r:id="rId20"/>
    <p:sldId id="274" r:id="rId19"/>
    <p:sldId id="275" r:id="rId18"/>
    <p:sldId id="276" r:id="rId17"/>
    <p:sldId id="277" r:id="rId16"/>
    <p:sldId id="278" r:id="rId15"/>
    <p:sldId id="279" r:id="rId14"/>
    <p:sldId id="280" r:id="rId13"/>
    <p:sldId id="281" r:id="rId12"/>
    <p:sldId id="282" r:id="rId11"/>
    <p:sldId id="283" r:id="rId10"/>
    <p:sldId id="284" r:id="rId9"/>
    <p:sldId id="285" r:id="rId8"/>
    <p:sldId id="286" r:id="rId7"/>
  </p:sldIdLst>
  <p:sldSz cy="5143500" cx="9144000"/>
  <p:notesSz cx="6858000" cy="9144000"/>
  <p:embeddedFontLst>
    <p:embeddedFont>
      <p:font typeface="DM Sans Medium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Montserrat Medium"/>
      <p:regular r:id="rId50"/>
      <p:bold r:id="rId51"/>
      <p:italic r:id="rId52"/>
      <p:boldItalic r:id="rId53"/>
    </p:embeddedFont>
    <p:embeddedFont>
      <p:font typeface="DM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31.xml"/><Relationship Id="rId8" Type="http://schemas.openxmlformats.org/officeDocument/2006/relationships/slide" Target="slides/slide30.xml"/><Relationship Id="rId9" Type="http://schemas.openxmlformats.org/officeDocument/2006/relationships/slide" Target="slides/slide29.xml"/><Relationship Id="rId10" Type="http://schemas.openxmlformats.org/officeDocument/2006/relationships/slide" Target="slides/slide28.xml"/><Relationship Id="rId11" Type="http://schemas.openxmlformats.org/officeDocument/2006/relationships/slide" Target="slides/slide27.xml"/><Relationship Id="rId12" Type="http://schemas.openxmlformats.org/officeDocument/2006/relationships/slide" Target="slides/slide26.xml"/><Relationship Id="rId13" Type="http://schemas.openxmlformats.org/officeDocument/2006/relationships/slide" Target="slides/slide25.xml"/><Relationship Id="rId14" Type="http://schemas.openxmlformats.org/officeDocument/2006/relationships/slide" Target="slides/slide24.xml"/><Relationship Id="rId15" Type="http://schemas.openxmlformats.org/officeDocument/2006/relationships/slide" Target="slides/slide23.xml"/><Relationship Id="rId16" Type="http://schemas.openxmlformats.org/officeDocument/2006/relationships/slide" Target="slides/slide22.xml"/><Relationship Id="rId17" Type="http://schemas.openxmlformats.org/officeDocument/2006/relationships/slide" Target="slides/slide21.xml"/><Relationship Id="rId18" Type="http://schemas.openxmlformats.org/officeDocument/2006/relationships/slide" Target="slides/slide20.xml"/><Relationship Id="rId19" Type="http://schemas.openxmlformats.org/officeDocument/2006/relationships/slide" Target="slides/slide19.xml"/><Relationship Id="rId20" Type="http://schemas.openxmlformats.org/officeDocument/2006/relationships/slide" Target="slides/slide18.xml"/><Relationship Id="rId21" Type="http://schemas.openxmlformats.org/officeDocument/2006/relationships/slide" Target="slides/slide17.xml"/><Relationship Id="rId22" Type="http://schemas.openxmlformats.org/officeDocument/2006/relationships/slide" Target="slides/slide16.xml"/><Relationship Id="rId23" Type="http://schemas.openxmlformats.org/officeDocument/2006/relationships/slide" Target="slides/slide15.xml"/><Relationship Id="rId24" Type="http://schemas.openxmlformats.org/officeDocument/2006/relationships/slide" Target="slides/slide14.xml"/><Relationship Id="rId25" Type="http://schemas.openxmlformats.org/officeDocument/2006/relationships/slide" Target="slides/slide13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font" Target="fonts/DMSansMedium-regular.fntdata"/><Relationship Id="rId39" Type="http://schemas.openxmlformats.org/officeDocument/2006/relationships/font" Target="fonts/DMSansMedium-bold.fntdata"/><Relationship Id="rId40" Type="http://schemas.openxmlformats.org/officeDocument/2006/relationships/font" Target="fonts/DMSansMedium-italic.fntdata"/><Relationship Id="rId41" Type="http://schemas.openxmlformats.org/officeDocument/2006/relationships/font" Target="fonts/DMSansMedium-boldItalic.fntdata"/><Relationship Id="rId42" Type="http://schemas.openxmlformats.org/officeDocument/2006/relationships/font" Target="fonts/Montserrat-regular.fntdata"/><Relationship Id="rId43" Type="http://schemas.openxmlformats.org/officeDocument/2006/relationships/font" Target="fonts/Montserrat-bold.fntdata"/><Relationship Id="rId44" Type="http://schemas.openxmlformats.org/officeDocument/2006/relationships/font" Target="fonts/Montserrat-italic.fntdata"/><Relationship Id="rId45" Type="http://schemas.openxmlformats.org/officeDocument/2006/relationships/font" Target="fonts/Montserrat-boldItalic.fntdata"/><Relationship Id="rId46" Type="http://schemas.openxmlformats.org/officeDocument/2006/relationships/font" Target="fonts/Lato-regular.fntdata"/><Relationship Id="rId47" Type="http://schemas.openxmlformats.org/officeDocument/2006/relationships/font" Target="fonts/Lato-bold.fntdata"/><Relationship Id="rId48" Type="http://schemas.openxmlformats.org/officeDocument/2006/relationships/font" Target="fonts/Lato-italic.fntdata"/><Relationship Id="rId49" Type="http://schemas.openxmlformats.org/officeDocument/2006/relationships/font" Target="fonts/Lato-boldItalic.fntdata"/><Relationship Id="rId50" Type="http://schemas.openxmlformats.org/officeDocument/2006/relationships/font" Target="fonts/MontserratMedium-regular.fntdata"/><Relationship Id="rId51" Type="http://schemas.openxmlformats.org/officeDocument/2006/relationships/font" Target="fonts/MontserratMedium-bold.fntdata"/><Relationship Id="rId52" Type="http://schemas.openxmlformats.org/officeDocument/2006/relationships/font" Target="fonts/MontserratMedium-italic.fntdata"/><Relationship Id="rId53" Type="http://schemas.openxmlformats.org/officeDocument/2006/relationships/font" Target="fonts/MontserratMedium-boldItalic.fntdata"/><Relationship Id="rId54" Type="http://schemas.openxmlformats.org/officeDocument/2006/relationships/font" Target="fonts/DMSans-regular.fntdata"/><Relationship Id="rId55" Type="http://schemas.openxmlformats.org/officeDocument/2006/relationships/font" Target="fonts/DMSans-bold.fntdata"/><Relationship Id="rId56" Type="http://schemas.openxmlformats.org/officeDocument/2006/relationships/font" Target="fonts/DMSans-italic.fntdata"/><Relationship Id="rId57" Type="http://schemas.openxmlformats.org/officeDocument/2006/relationships/font" Target="fonts/DMSans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Storage (GB)</c:v>
                </c:pt>
              </c:strCache>
            </c:strRef>
          </c:tx>
          <c:dPt>
            <c:idx val="0"/>
            <c:spPr>
              <a:solidFill>
                <a:srgbClr val="6B82C2"/>
              </a:solidFill>
            </c:spPr>
          </c:dPt>
          <c:dPt>
            <c:idx val="1"/>
            <c:spPr>
              <a:solidFill>
                <a:srgbClr val="F68521"/>
              </a:solidFill>
            </c:spPr>
          </c:dPt>
          <c:cat>
            <c:strRef>
              <c:f>Sheet1!$A$2:$A$3</c:f>
              <c:strCache>
                <c:ptCount val="2"/>
                <c:pt idx="0">
                  <c:v>PostgreSQL
(current scale)</c:v>
                </c:pt>
                <c:pt idx="1">
                  <c:v>ClickHouse
(10-15× that scale)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</c:v>
                </c:pt>
                <c:pt idx="1">
                  <c:v>150</c:v>
                </c:pt>
              </c:numCache>
            </c:numRef>
          </c:val>
        </c:ser>
        <c:dLbls>
          <c:numFmt formatCode="0&quot; GB&quot;" sourceLinked="0"/>
          <c:txPr>
            <a:bodyPr/>
            <a:lstStyle/>
            <a:p>
              <a:pPr>
                <a:defRPr sz="1200" b="1">
                  <a:solidFill>
                    <a:srgbClr val="273A8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3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Relationship Id="rId3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68680"/>
            <a:ext cx="5669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273A80"/>
                </a:solidFill>
                <a:latin typeface="DM Sans"/>
              </a:rPr>
              <a:t>SakshamIQ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68521"/>
                </a:solidFill>
                <a:latin typeface="DM Sans"/>
              </a:rPr>
              <a:t>( Analytical Intelligence for Digital Governance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F1F1F"/>
                </a:solidFill>
                <a:latin typeface="Lato"/>
              </a:rPr>
              <a:t>Built on Apache Kafka, ClickHouse &amp; Apache Airflow for real-time, governed analytics at state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434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68521"/>
                </a:solidFill>
                <a:latin typeface="DM Sans"/>
              </a:rPr>
              <a:t>EXEMPLAR: PUNJAB PROPERTY TAX</a:t>
            </a:r>
          </a:p>
        </p:txBody>
      </p:sp>
      <p:pic>
        <p:nvPicPr>
          <p:cNvPr id="7" name="Picture 6" descr="digital-enablement-ind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47798"/>
            <a:ext cx="2880360" cy="27957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3589020"/>
            <a:ext cx="2377440" cy="2377440"/>
          </a:xfrm>
          <a:prstGeom prst="ellipse">
            <a:avLst/>
          </a:prstGeom>
          <a:noFill/>
          <a:ln w="2540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4091940"/>
            <a:ext cx="1371600" cy="1371600"/>
          </a:xfrm>
          <a:prstGeom prst="ellipse">
            <a:avLst/>
          </a:prstGeom>
          <a:noFill/>
          <a:ln w="25400">
            <a:solidFill>
              <a:srgbClr val="6B8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-822960"/>
            <a:ext cx="1645920" cy="1645920"/>
          </a:xfrm>
          <a:prstGeom prst="ellipse">
            <a:avLst/>
          </a:prstGeom>
          <a:noFill/>
          <a:ln w="25400">
            <a:solidFill>
              <a:srgbClr val="6B8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68521"/>
                </a:solidFill>
                <a:latin typeface="DM Sans"/>
              </a:rPr>
              <a:t>PART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DM Sans"/>
              </a:rPr>
              <a:t>The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1544" y="100584"/>
            <a:ext cx="1033272" cy="44300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73A80"/>
                </a:solidFill>
                <a:latin typeface="DM Sans"/>
              </a:rPr>
              <a:t>A Decade of Growth Outgrew the Reporting Stack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No Cross-Domain Joins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The existing analytical store cannot join across domains, constraining cross-cutting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00784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556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55648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Falling Back to OLTP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02536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State teams routinely extract reports directly from the production PostgreSQL database.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04872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597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459736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Explosive Data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706624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A decade of demand, collection, and property data has made ad hoc reporting increasingly expensive.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108960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16382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163824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Join-Heavy Queries 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410712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Reporting queries against the transactional schema have become progressively slower.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813048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867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867912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Production Under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114800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Analytical workloads compete with live transactions for CPU and memory on the OLTP system.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C25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&quot;No&quot; Symbol 26"/>
          <p:cNvSpPr/>
          <p:nvPr/>
        </p:nvSpPr>
        <p:spPr>
          <a:xfrm>
            <a:off x="7068312" y="2450592"/>
            <a:ext cx="585216" cy="585216"/>
          </a:xfrm>
          <a:prstGeom prst="noSmoking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590288"/>
            <a:ext cx="8321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7F7F7F"/>
                </a:solidFill>
                <a:latin typeface="Lato"/>
              </a:rPr>
              <a:t>Triggered most visibly during the One-Time Settlement (OTS) drive.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WHY PUNJAB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73A80"/>
                </a:solidFill>
                <a:latin typeface="DM Sans"/>
              </a:rPr>
              <a:t>The Exemplar for Statewide Modernization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371600"/>
            <a:ext cx="262128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262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68521"/>
                </a:solidFill>
                <a:latin typeface="DM Sans"/>
              </a:rPr>
              <a:t>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43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Property Tax module live since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1360" y="1371600"/>
            <a:ext cx="262128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1360" y="1572768"/>
            <a:ext cx="262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68521"/>
                </a:solidFill>
                <a:latin typeface="DM Sans"/>
              </a:rPr>
              <a:t>10+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2286000"/>
            <a:ext cx="243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of continuous demand, collection</a:t>
            </a:r>
          </a:p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&amp; property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1240" y="1371600"/>
            <a:ext cx="262128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1240" y="1572768"/>
            <a:ext cx="262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68521"/>
                </a:solidFill>
                <a:latin typeface="DM Sans"/>
              </a:rPr>
              <a:t>1st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2680" y="2286000"/>
            <a:ext cx="243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DIGIT implementation chosen to</a:t>
            </a:r>
          </a:p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validate this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37560"/>
            <a:ext cx="8321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Lato"/>
              </a:rPr>
              <a:t>Punjab's Property Tax system carries over a decade of operational history — enough real volume and complexity to prove the analytical architecture before it is rolled out to every DIGIT urban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WHAT WE'RE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73A80"/>
                </a:solidFill>
                <a:latin typeface="DM Sans"/>
              </a:rPr>
              <a:t>What SakshamIQ Must Deliver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3538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Separate OLTP / OLAP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3538727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Isolate analytics from transactional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88236"/>
            <a:ext cx="3977639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431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43100"/>
            <a:ext cx="3538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Event-Driven, Append-Only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89988"/>
            <a:ext cx="3538727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Every change flows in as an immutable event.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79776"/>
            <a:ext cx="3977639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346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834640"/>
            <a:ext cx="3538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SQL-Native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081528"/>
            <a:ext cx="3538727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Broad accessibility for analysts via standard SQL.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71316"/>
            <a:ext cx="3977639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261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726180"/>
            <a:ext cx="3538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Efficient 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973068"/>
            <a:ext cx="3538727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Fast, reliable KPI extraction at state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1051560"/>
            <a:ext cx="3538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Governance Built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1298448"/>
            <a:ext cx="3538727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RBAC, row-level security, full auditability.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888236"/>
            <a:ext cx="3977639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9431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1943100"/>
            <a:ext cx="3538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Safe Schema Evolution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2189988"/>
            <a:ext cx="3538727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Structural change without breaking consumers.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779776"/>
            <a:ext cx="3977639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8346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2834640"/>
            <a:ext cx="3538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Long-Term Scalability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2" y="3081528"/>
            <a:ext cx="3538727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Grows with a decade of statewide data.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671316"/>
            <a:ext cx="3977639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7261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3726180"/>
            <a:ext cx="3538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Proportionate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3973068"/>
            <a:ext cx="3538727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Scale without disproportionate infra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TECHNOLOGY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73A80"/>
                </a:solidFill>
                <a:latin typeface="DM Sans"/>
              </a:rPr>
              <a:t>Why ClickHouse?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914400"/>
            <a:ext cx="8321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F1F1F"/>
                </a:solidFill>
                <a:latin typeface="Lato"/>
              </a:rPr>
              <a:t>The analytical workload needs a dedicated OLAP store — separate from transactional PostgreSQL.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37160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Separate OLTP / OLAP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18488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Isolate analytical workloads from the transactional system so reporting no longer competes with live transactions.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0253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574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5740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SQL-based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304288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Provide SQL access for analysts and enable broader analytical accessibility.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8833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432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74320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Efficient KPI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990088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Support large-scale aggregations and precomputed KPI refreshes for reporting and dashboards.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7413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4290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42900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Scale +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675888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Support long-term growth without disproportionate infrastructure cost; validation was performed at ~10-15× production scale.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>
            <a:off x="7068312" y="2450592"/>
            <a:ext cx="585216" cy="58521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4343400"/>
            <a:ext cx="8321040" cy="411480"/>
          </a:xfrm>
          <a:prstGeom prst="roundRect">
            <a:avLst>
              <a:gd name="adj" fmla="val 2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343400"/>
            <a:ext cx="7955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050">
                <a:solidFill>
                  <a:srgbClr val="273A80"/>
                </a:solidFill>
                <a:latin typeface="DM Sans"/>
              </a:rPr>
              <a:t>VALIDATED AT SCALE   </a:t>
            </a:r>
            <a:r>
              <a:rPr b="0" sz="1050">
                <a:solidFill>
                  <a:srgbClr val="1F1F1F"/>
                </a:solidFill>
                <a:latin typeface="Lato"/>
              </a:rPr>
              <a:t>~50M properties · ~724M PT demands · ~10 years historical accumulation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73A80"/>
                </a:solidFill>
                <a:latin typeface="DM Sans"/>
              </a:rPr>
              <a:t>Why Kafka + ClickHouse + Airflow?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914400"/>
            <a:ext cx="8321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F1F1F"/>
                </a:solidFill>
                <a:latin typeface="Lato"/>
              </a:rPr>
              <a:t>Each component has one clear responsibility in the analytical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/>
          <a:lstStyle/>
          <a:p>
            <a:pPr algn="ctr"/>
            <a:r>
              <a:rPr sz="1100" b="1">
                <a:solidFill>
                  <a:srgbClr val="F68521"/>
                </a:solidFill>
                <a:latin typeface="DM Sans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DM Sans"/>
              </a:rPr>
              <a:t>DIGIT Services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E3E7F4"/>
                </a:solidFill>
                <a:latin typeface="Lato"/>
              </a:rPr>
              <a:t>Generates business transactions and upstream create/update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544" y="1371600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/>
          <a:lstStyle/>
          <a:p>
            <a:pPr algn="ctr"/>
            <a:r>
              <a:rPr sz="1100" b="1">
                <a:solidFill>
                  <a:srgbClr val="F68521"/>
                </a:solidFill>
                <a:latin typeface="DM Sans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DM Sans"/>
              </a:rPr>
              <a:t>Apache Kafka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E3E7F4"/>
                </a:solidFill>
                <a:latin typeface="Lato"/>
              </a:rPr>
              <a:t>Event backbone that transports immutable upstream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8" y="1371600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/>
          <a:lstStyle/>
          <a:p>
            <a:pPr algn="ctr"/>
            <a:r>
              <a:rPr sz="1100" b="1">
                <a:solidFill>
                  <a:srgbClr val="F68521"/>
                </a:solidFill>
                <a:latin typeface="DM Sans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DM Sans"/>
              </a:rPr>
              <a:t>ClickHouse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E3E7F4"/>
                </a:solidFill>
                <a:latin typeface="Lato"/>
              </a:rPr>
              <a:t>Analytical datastore: Bronze → Silver → Gold business marts.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76672" y="1371600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/>
          <a:lstStyle/>
          <a:p>
            <a:pPr algn="ctr"/>
            <a:r>
              <a:rPr sz="1100" b="1">
                <a:solidFill>
                  <a:srgbClr val="F68521"/>
                </a:solidFill>
                <a:latin typeface="DM Sans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DM Sans"/>
              </a:rPr>
              <a:t>Apache Airflow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E3E7F4"/>
                </a:solidFill>
                <a:latin typeface="Lato"/>
              </a:rPr>
              <a:t>Control plane: scheduling, dependencies, retries, backfills.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31736" y="1371600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28016"/>
          <a:lstStyle/>
          <a:p>
            <a:pPr algn="ctr"/>
            <a:r>
              <a:rPr sz="1100" b="1">
                <a:solidFill>
                  <a:srgbClr val="F68521"/>
                </a:solidFill>
                <a:latin typeface="DM Sans"/>
              </a:rPr>
              <a:t>05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DM Sans"/>
              </a:rPr>
              <a:t>Dashboards / APIs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E3E7F4"/>
                </a:solidFill>
                <a:latin typeface="Lato"/>
              </a:rPr>
              <a:t>Consume Gold marts and query Silver for analytical exploration.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611880"/>
            <a:ext cx="8321040" cy="502920"/>
          </a:xfrm>
          <a:prstGeom prst="roundRect">
            <a:avLst>
              <a:gd name="adj" fmla="val 20000"/>
            </a:avLst>
          </a:prstGeom>
          <a:solidFill>
            <a:srgbClr val="FC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611880"/>
            <a:ext cx="7955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050">
                <a:solidFill>
                  <a:srgbClr val="C25E0E"/>
                </a:solidFill>
                <a:latin typeface="DM Sans"/>
              </a:rPr>
              <a:t>CONTROL PLANE, NOT DATA STORE   </a:t>
            </a:r>
            <a:r>
              <a:rPr b="0" sz="1050">
                <a:solidFill>
                  <a:srgbClr val="1F1F1F"/>
                </a:solidFill>
                <a:latin typeface="Lato"/>
              </a:rPr>
              <a:t>Airflow orchestrates execution; ClickHouse persists and processes analytical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3589020"/>
            <a:ext cx="2377440" cy="2377440"/>
          </a:xfrm>
          <a:prstGeom prst="ellipse">
            <a:avLst/>
          </a:prstGeom>
          <a:noFill/>
          <a:ln w="2540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4091940"/>
            <a:ext cx="1371600" cy="1371600"/>
          </a:xfrm>
          <a:prstGeom prst="ellipse">
            <a:avLst/>
          </a:prstGeom>
          <a:noFill/>
          <a:ln w="25400">
            <a:solidFill>
              <a:srgbClr val="6B8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-822960"/>
            <a:ext cx="1645920" cy="1645920"/>
          </a:xfrm>
          <a:prstGeom prst="ellipse">
            <a:avLst/>
          </a:prstGeom>
          <a:noFill/>
          <a:ln w="25400">
            <a:solidFill>
              <a:srgbClr val="6B8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68521"/>
                </a:solidFill>
                <a:latin typeface="DM Sans"/>
              </a:rPr>
              <a:t>PART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DM Sans"/>
              </a:rPr>
              <a:t>The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1544" y="100584"/>
            <a:ext cx="1033272" cy="44300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73A80"/>
                </a:solidFill>
                <a:latin typeface="DM Sans"/>
              </a:rPr>
              <a:t>Four Design Principles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Event-Driven &amp; Append-Only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All creates/updates flow as immutable events — no updates or deletes, full historical traceability.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680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3167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3167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Layered (Medallion)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7855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Raw Events → Canonical Entities → Data Marts, each layer with one job and one guarantee.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5691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117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81178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Governance-First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05866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RBAC, row-level isolation, snapshot immutability, and a versioned mart strategy from day 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702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9189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69189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Operational Simplicity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93877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Airflow is reused for orchestration; ClickHouse is the only new stateful component.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7068312" y="2450592"/>
            <a:ext cx="585216" cy="585216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73A80"/>
                </a:solidFill>
                <a:latin typeface="DM Sans"/>
              </a:rPr>
              <a:t>End-to-End Data Flow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1965960"/>
            <a:ext cx="1207008" cy="1051560"/>
          </a:xfrm>
          <a:prstGeom prst="roundRect">
            <a:avLst>
              <a:gd name="adj" fmla="val 10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DM Sans"/>
              </a:rPr>
              <a:t>DIGIT Services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Property &amp; demand
events (via Kafka)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9072" y="1965960"/>
            <a:ext cx="1207008" cy="1051560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DM Sans"/>
              </a:rPr>
              <a:t>Ingestion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Streamed, no parsing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2384" y="1965960"/>
            <a:ext cx="1207008" cy="1051560"/>
          </a:xfrm>
          <a:prstGeom prst="roundRect">
            <a:avLst>
              <a:gd name="adj" fmla="val 10000"/>
            </a:avLst>
          </a:prstGeom>
          <a:solidFill>
            <a:srgbClr val="C25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DM Sans"/>
              </a:rPr>
              <a:t>Raw Events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BRONZE · append-only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965960"/>
            <a:ext cx="1207008" cy="1051560"/>
          </a:xfrm>
          <a:prstGeom prst="roundRect">
            <a:avLst>
              <a:gd name="adj" fmla="val 10000"/>
            </a:avLst>
          </a:prstGeom>
          <a:solidFill>
            <a:srgbClr val="6B8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DM Sans"/>
              </a:rPr>
              <a:t>Canonical Entities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SILVER · deduplicated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9008" y="1965960"/>
            <a:ext cx="1207008" cy="1051560"/>
          </a:xfrm>
          <a:prstGeom prst="roundRect">
            <a:avLst>
              <a:gd name="adj" fmla="val 10000"/>
            </a:avLst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DM Sans"/>
              </a:rPr>
              <a:t>Business Marts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GOLD · pre-aggregated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965960"/>
            <a:ext cx="1207008" cy="1051560"/>
          </a:xfrm>
          <a:prstGeom prst="roundRect">
            <a:avLst>
              <a:gd name="adj" fmla="val 10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DM Sans"/>
              </a:rPr>
              <a:t>Dashboards &amp; APIs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Business analysts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572768" y="2382012"/>
            <a:ext cx="146304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926080" y="2382012"/>
            <a:ext cx="146304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279392" y="2382012"/>
            <a:ext cx="146304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632704" y="2382012"/>
            <a:ext cx="146304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986016" y="2382012"/>
            <a:ext cx="146304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2344" y="105156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C25E0E"/>
                </a:solidFill>
                <a:latin typeface="Lato"/>
              </a:rPr>
              <a:t>Airflow (T-1 nightly)</a:t>
            </a:r>
          </a:p>
          <a:p>
            <a:pPr algn="ctr"/>
            <a:r>
              <a:rPr sz="900" b="0" i="0">
                <a:solidFill>
                  <a:srgbClr val="C25E0E"/>
                </a:solidFill>
                <a:latin typeface="Lato"/>
              </a:rPr>
              <a:t>parses raw JSON, upserts</a:t>
            </a:r>
          </a:p>
          <a:p>
            <a:pPr algn="ctr"/>
            <a:r>
              <a:rPr sz="900" b="0" i="0">
                <a:solidFill>
                  <a:srgbClr val="C25E0E"/>
                </a:solidFill>
                <a:latin typeface="Lato"/>
              </a:rPr>
              <a:t>canonical entities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0515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73A80"/>
                </a:solidFill>
                <a:latin typeface="Lato"/>
              </a:rPr>
              <a:t>Dependency-ordered mart</a:t>
            </a:r>
          </a:p>
          <a:p>
            <a:pPr algn="ctr"/>
            <a:r>
              <a:rPr sz="900" b="0" i="0">
                <a:solidFill>
                  <a:srgbClr val="273A80"/>
                </a:solidFill>
                <a:latin typeface="Lato"/>
              </a:rPr>
              <a:t>refresh — consistent</a:t>
            </a:r>
          </a:p>
          <a:p>
            <a:pPr algn="ctr"/>
            <a:r>
              <a:rPr sz="900" b="0" i="0">
                <a:solidFill>
                  <a:srgbClr val="273A80"/>
                </a:solidFill>
                <a:latin typeface="Lato"/>
              </a:rPr>
              <a:t>snapshot every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337560"/>
            <a:ext cx="8321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F1F1F"/>
                </a:solidFill>
                <a:latin typeface="Lato"/>
              </a:rPr>
              <a:t>Airflow acts strictly as a control plane — it orchestrates, but never persists analytical data. Every stage is idempotent and independently re-runnable, so a bad run never means starting over.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73A80"/>
                </a:solidFill>
                <a:latin typeface="DM Sans"/>
              </a:rPr>
              <a:t>Bronze — Raw Events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C25E0E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Full, Untouched Event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property_events_raw, demand_events_raw store every event exactly as received.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680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3167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C25E0E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3167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Append-Only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7855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Plain MergeTree — nothing is ever overwritten.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5691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117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C25E0E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81178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No Parsing at 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05866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Upstream JSON is stored as-is; parsing happens later.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702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9189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C25E0E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69189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Preserved for Replay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93877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Every event ever delivered is kept, for replay and audit.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C25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ircular Arrow 22"/>
          <p:cNvSpPr/>
          <p:nvPr/>
        </p:nvSpPr>
        <p:spPr>
          <a:xfrm>
            <a:off x="7068312" y="2450592"/>
            <a:ext cx="585216" cy="585216"/>
          </a:xfrm>
          <a:prstGeom prst="circular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73A80"/>
                </a:solidFill>
                <a:latin typeface="DM Sans"/>
              </a:rPr>
              <a:t>Silver — Canonical Entities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73A80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Populated Nightly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Airflow parses bronze JSON and upserts entity 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680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3167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73A80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3167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Deduplicated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7855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ReplacingMergeTree, versioned on last_modified_time.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5691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117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73A80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81178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Full Entity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05866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Property, unit, owner, demand, payment, bill, assessment, audit.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702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9189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73A80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69189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Latest-State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93877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Queried with FINAL whenever current state is required.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ube 22"/>
          <p:cNvSpPr/>
          <p:nvPr/>
        </p:nvSpPr>
        <p:spPr>
          <a:xfrm>
            <a:off x="7068312" y="2450592"/>
            <a:ext cx="585216" cy="585216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73A80"/>
                </a:solidFill>
                <a:latin typeface="DM Sans"/>
              </a:rPr>
              <a:t>Gold — Business Marts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Precomputed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Built exclusively from canonical (silver) entities.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680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3167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3167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Broad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7855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Active properties, collections, defaulters, risk, assessments.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5691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117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81178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Dependency-Ordered Refresh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05866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One Refreshable Materialized View at a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702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9189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69189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Consistent Snapshots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938778"/>
            <a:ext cx="4956048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Dashboards never read a half-refreshed mart.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ightning Bolt 22"/>
          <p:cNvSpPr/>
          <p:nvPr/>
        </p:nvSpPr>
        <p:spPr>
          <a:xfrm>
            <a:off x="7068312" y="2450592"/>
            <a:ext cx="585216" cy="58521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PIPELINE ENABLEMENT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73A80"/>
                </a:solidFill>
                <a:latin typeface="DM Sans"/>
              </a:rPr>
              <a:t>Enable Billing &amp; Collection Events for ClickHouse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C25E0E"/>
                </a:solidFill>
                <a:latin typeface="DM San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Demand and bill data was persisted to PostgreSQL through JDBC, but was never emitted to Kafka for analytics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As a result, these records were not available in the ClickHouse pipeline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Existing application Kafka topics could not be reused because they serve application / integration 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051560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73A80"/>
                </a:solidFill>
                <a:latin typeface="DM Sans"/>
              </a:rPr>
              <a:t>Changes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1417320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 b="1">
                <a:solidFill>
                  <a:srgbClr val="273A80"/>
                </a:solidFill>
                <a:latin typeface="DM Sans"/>
              </a:rPr>
              <a:t>save-demand-event</a:t>
            </a:r>
            <a:r>
              <a:rPr sz="1050">
                <a:solidFill>
                  <a:srgbClr val="1F1F1F"/>
                </a:solidFill>
                <a:latin typeface="Lato"/>
              </a:rPr>
              <a:t> → demand creation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 b="1">
                <a:solidFill>
                  <a:srgbClr val="273A80"/>
                </a:solidFill>
                <a:latin typeface="DM Sans"/>
              </a:rPr>
              <a:t>update-demand-event</a:t>
            </a:r>
            <a:r>
              <a:rPr sz="1050">
                <a:solidFill>
                  <a:srgbClr val="1F1F1F"/>
                </a:solidFill>
                <a:latin typeface="Lato"/>
              </a:rPr>
              <a:t> → demand updates, including payment-driven updates and reversals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 b="1">
                <a:solidFill>
                  <a:srgbClr val="273A80"/>
                </a:solidFill>
                <a:latin typeface="DM Sans"/>
              </a:rPr>
              <a:t>save-bill-event</a:t>
            </a:r>
            <a:r>
              <a:rPr sz="1050">
                <a:solidFill>
                  <a:srgbClr val="1F1F1F"/>
                </a:solidFill>
                <a:latin typeface="Lato"/>
              </a:rPr>
              <a:t> → collection-side bill creation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Events are published only after successful DB persistence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Existing persistence and existing Kafka flows remain unchanged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7" y="1051560"/>
            <a:ext cx="12700" cy="3566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CODE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73A80"/>
                </a:solidFill>
                <a:latin typeface="DM Sans"/>
              </a:rPr>
              <a:t>Code Changes in Billing &amp; Collection Services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8321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4206240"/>
              </a:tblGrid>
              <a:tr h="32918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Service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Code Change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Purpose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Billing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application.properties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Added demand event topic configuration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ApplicationProperties.java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Added topic properties / getters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DemandService.create()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Publish save-demand-event after DB save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DemandService.update()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Publish update-demand-event after DB update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Collection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application.properties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Added bill event topic configuration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ApplicationProperties.java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Added bill topic property / getter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PaymentService.createPayment()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Publish save-bill-event after egcl_bill persistence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840480"/>
            <a:ext cx="8321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25E0E"/>
                </a:solidFill>
                <a:latin typeface="DM Sans"/>
              </a:rPr>
              <a:t>Key Design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950" b="1">
                <a:solidFill>
                  <a:srgbClr val="F68521"/>
                </a:solidFill>
                <a:latin typeface="DM Sans"/>
              </a:rPr>
              <a:t>—  </a:t>
            </a:r>
            <a:r>
              <a:rPr sz="950" b="1">
                <a:solidFill>
                  <a:srgbClr val="273A80"/>
                </a:solidFill>
                <a:latin typeface="DM Sans"/>
              </a:rPr>
              <a:t>DemandService.update()</a:t>
            </a:r>
            <a:r>
              <a:rPr sz="950">
                <a:solidFill>
                  <a:srgbClr val="1F1F1F"/>
                </a:solidFill>
                <a:latin typeface="Lato"/>
              </a:rPr>
              <a:t> is the single publishing point for all demand updates</a:t>
            </a:r>
          </a:p>
          <a:p>
            <a:pPr>
              <a:spcAft>
                <a:spcPts val="900"/>
              </a:spcAft>
            </a:pPr>
            <a:r>
              <a:rPr sz="950" b="1">
                <a:solidFill>
                  <a:srgbClr val="F68521"/>
                </a:solidFill>
                <a:latin typeface="DM Sans"/>
              </a:rPr>
              <a:t>—  </a:t>
            </a:r>
            <a:r>
              <a:rPr sz="950">
                <a:solidFill>
                  <a:srgbClr val="1F1F1F"/>
                </a:solidFill>
                <a:latin typeface="Lato"/>
              </a:rPr>
              <a:t>No changes to existing save-demand, update-demand or payment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411480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950" b="1">
                <a:solidFill>
                  <a:srgbClr val="F68521"/>
                </a:solidFill>
                <a:latin typeface="DM Sans"/>
              </a:rPr>
              <a:t>—  </a:t>
            </a:r>
            <a:r>
              <a:rPr sz="950" b="1">
                <a:solidFill>
                  <a:srgbClr val="273A80"/>
                </a:solidFill>
                <a:latin typeface="DM Sans"/>
              </a:rPr>
              <a:t>save-bill-event</a:t>
            </a:r>
            <a:r>
              <a:rPr sz="950">
                <a:solidFill>
                  <a:srgbClr val="1F1F1F"/>
                </a:solidFill>
                <a:latin typeface="Lato"/>
              </a:rPr>
              <a:t> is emitted from Collection Service — egcl_bill is the bill used in the payment flow</a:t>
            </a:r>
          </a:p>
          <a:p>
            <a:pPr>
              <a:spcAft>
                <a:spcPts val="900"/>
              </a:spcAft>
            </a:pPr>
            <a:r>
              <a:rPr sz="950" b="1">
                <a:solidFill>
                  <a:srgbClr val="F68521"/>
                </a:solidFill>
                <a:latin typeface="DM Sans"/>
              </a:rPr>
              <a:t>—  </a:t>
            </a:r>
            <a:r>
              <a:rPr sz="950">
                <a:solidFill>
                  <a:srgbClr val="1F1F1F"/>
                </a:solidFill>
                <a:latin typeface="Lato"/>
              </a:rPr>
              <a:t>No separate bill-cancel-event / update-bill-event required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RESULTING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73A80"/>
                </a:solidFill>
                <a:latin typeface="DM Sans"/>
              </a:rPr>
              <a:t>How Billing &amp; Collection Events Reach ClickHouse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325880"/>
            <a:ext cx="1234440" cy="1408176"/>
          </a:xfrm>
          <a:prstGeom prst="roundRect">
            <a:avLst>
              <a:gd name="adj" fmla="val 10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FFFFFF"/>
                </a:solidFill>
                <a:latin typeface="DM Sans"/>
              </a:rPr>
              <a:t>Billing Service</a:t>
            </a:r>
          </a:p>
          <a:p>
            <a:pPr algn="ctr"/>
            <a:r>
              <a:rPr sz="700">
                <a:solidFill>
                  <a:srgbClr val="FFFFFF"/>
                </a:solidFill>
                <a:latin typeface="Lato"/>
              </a:rPr>
              <a:t>demand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25496"/>
            <a:ext cx="1234440" cy="658368"/>
          </a:xfrm>
          <a:prstGeom prst="roundRect">
            <a:avLst>
              <a:gd name="adj" fmla="val 10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FFFFFF"/>
                </a:solidFill>
                <a:latin typeface="DM Sans"/>
              </a:rPr>
              <a:t>Collection Service</a:t>
            </a:r>
          </a:p>
          <a:p>
            <a:pPr algn="ctr"/>
            <a:r>
              <a:rPr sz="700">
                <a:solidFill>
                  <a:srgbClr val="FFFFFF"/>
                </a:solidFill>
                <a:latin typeface="Lato"/>
              </a:rPr>
              <a:t>payment / billing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325880"/>
            <a:ext cx="1417320" cy="65836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Demand Create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DemandService.create()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0512" y="2075688"/>
            <a:ext cx="1417320" cy="65836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Demand Update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DemandService.update()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0512" y="2825496"/>
            <a:ext cx="1417320" cy="65836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createPayment()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persists egcl_bill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325880"/>
            <a:ext cx="1463040" cy="658368"/>
          </a:xfrm>
          <a:prstGeom prst="roundRect">
            <a:avLst>
              <a:gd name="adj" fmla="val 10000"/>
            </a:avLst>
          </a:prstGeom>
          <a:solidFill>
            <a:srgbClr val="C25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save-demand-event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new demand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2075688"/>
            <a:ext cx="1463040" cy="658368"/>
          </a:xfrm>
          <a:prstGeom prst="roundRect">
            <a:avLst>
              <a:gd name="adj" fmla="val 10000"/>
            </a:avLst>
          </a:prstGeom>
          <a:solidFill>
            <a:srgbClr val="C25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update-demand-event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incl. payment-driven reversals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2825496"/>
            <a:ext cx="1463040" cy="658368"/>
          </a:xfrm>
          <a:prstGeom prst="roundRect">
            <a:avLst>
              <a:gd name="adj" fmla="val 10000"/>
            </a:avLst>
          </a:prstGeom>
          <a:solidFill>
            <a:srgbClr val="C25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save-bill-event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collection-side bill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28616" y="1325880"/>
            <a:ext cx="1234440" cy="2157984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DM Sans"/>
              </a:rPr>
              <a:t>Kafka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dedicated analytics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1325880"/>
            <a:ext cx="1234440" cy="2157984"/>
          </a:xfrm>
          <a:prstGeom prst="roundRect">
            <a:avLst>
              <a:gd name="adj" fmla="val 10000"/>
            </a:avLst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DM Sans"/>
              </a:rPr>
              <a:t>ClickHouse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Bronze → Silver → Gold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691640" y="1563624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3227832" y="1563624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4809744" y="1563624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691640" y="2313432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3227832" y="2313432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4809744" y="2313432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1691640" y="3063240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3227832" y="3063240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4809744" y="3063240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6163056" y="2313432"/>
            <a:ext cx="118872" cy="18288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712464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25E0E"/>
                </a:solidFill>
                <a:latin typeface="DM Sans"/>
              </a:rPr>
              <a:t>OUTCOME   </a:t>
            </a:r>
            <a:r>
              <a:rPr sz="1050">
                <a:solidFill>
                  <a:srgbClr val="1F1F1F"/>
                </a:solidFill>
                <a:latin typeface="Lato"/>
              </a:rPr>
              <a:t>Demand, bill and payment-related state changes are now available to the ClickHouse analytics pipeline — without modifying existing transactional persistence flows.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73A80"/>
                </a:solidFill>
                <a:latin typeface="DM Sans"/>
              </a:rPr>
              <a:t>Orchestration — Airflow as Control Plane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Stage-Wise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Raw → Entity → Mart, executed as ordered stages every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8343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383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63830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Scheduled Daily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88518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T-1 batch processing runs nightly, off-peak.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7017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25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22504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Dependency-Enforced Sequencing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47192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Marts that depend on others always refresh in order.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5691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117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281178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Idempotent Recomputation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05866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Any stage can be safely re-run without side effects.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34365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98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39852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Backfill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64540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Historical reprocessing is a first-class operation.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93039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9852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852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Retry &amp; 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23214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Automatic retry on failure, full visibility in the Airflow UI.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ear 6 30"/>
          <p:cNvSpPr/>
          <p:nvPr/>
        </p:nvSpPr>
        <p:spPr>
          <a:xfrm>
            <a:off x="7068312" y="2450592"/>
            <a:ext cx="585216" cy="58521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ORCHESTRATION · DAG 1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73A80"/>
                </a:solidFill>
                <a:latin typeface="DM Sans"/>
              </a:rPr>
              <a:t>Bronze to Silver — Five Branches, One Barrier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1371600"/>
            <a:ext cx="1143000" cy="2176272"/>
          </a:xfrm>
          <a:prstGeom prst="roundRect">
            <a:avLst>
              <a:gd name="adj" fmla="val 10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Nightly Run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T-1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13832" y="1371600"/>
            <a:ext cx="1143000" cy="2176272"/>
          </a:xfrm>
          <a:prstGeom prst="roundRect">
            <a:avLst>
              <a:gd name="adj" fmla="val 10000"/>
            </a:avLst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Join &amp; Trigger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all five must succeed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8488" y="1371600"/>
            <a:ext cx="1005840" cy="384048"/>
          </a:xfrm>
          <a:prstGeom prst="roundRect">
            <a:avLst>
              <a:gd name="adj" fmla="val 10000"/>
            </a:avLst>
          </a:prstGeom>
          <a:solidFill>
            <a:srgbClr val="EA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F1F1F"/>
                </a:solidFill>
                <a:latin typeface="DM Sans"/>
              </a:rPr>
              <a:t>Property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1371600"/>
            <a:ext cx="114300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Extract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count the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86784" y="1371600"/>
            <a:ext cx="141732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 w="1905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Transform &amp; Load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→ 4 entity tables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508760" y="1481328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624328" y="1481328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877056" y="1481328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404104" y="1481328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18488" y="1819656"/>
            <a:ext cx="1005840" cy="384048"/>
          </a:xfrm>
          <a:prstGeom prst="roundRect">
            <a:avLst>
              <a:gd name="adj" fmla="val 10000"/>
            </a:avLst>
          </a:prstGeom>
          <a:solidFill>
            <a:srgbClr val="EA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F1F1F"/>
                </a:solidFill>
                <a:latin typeface="DM Sans"/>
              </a:rPr>
              <a:t>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34056" y="1819656"/>
            <a:ext cx="114300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Extract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count the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86784" y="1819656"/>
            <a:ext cx="141732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 w="1905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Transform &amp; Load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→ 1 entity table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508760" y="1929384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2624328" y="1929384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3877056" y="1929384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404104" y="1929384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18488" y="2267712"/>
            <a:ext cx="1005840" cy="384048"/>
          </a:xfrm>
          <a:prstGeom prst="roundRect">
            <a:avLst>
              <a:gd name="adj" fmla="val 10000"/>
            </a:avLst>
          </a:prstGeom>
          <a:solidFill>
            <a:srgbClr val="EA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F1F1F"/>
                </a:solidFill>
                <a:latin typeface="DM Sans"/>
              </a:rPr>
              <a:t>Payment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34056" y="2267712"/>
            <a:ext cx="114300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Extract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count the window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86784" y="2267712"/>
            <a:ext cx="141732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 w="1905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Transform &amp; Load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→ 1 entity table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508760" y="2377440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2624328" y="2377440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3877056" y="2377440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5404104" y="2377440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18488" y="2715768"/>
            <a:ext cx="1005840" cy="384048"/>
          </a:xfrm>
          <a:prstGeom prst="roundRect">
            <a:avLst>
              <a:gd name="adj" fmla="val 10000"/>
            </a:avLst>
          </a:prstGeom>
          <a:solidFill>
            <a:srgbClr val="EA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F1F1F"/>
                </a:solidFill>
                <a:latin typeface="DM Sans"/>
              </a:rPr>
              <a:t>Bill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34056" y="2715768"/>
            <a:ext cx="114300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Extract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count the window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86784" y="2715768"/>
            <a:ext cx="141732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 w="1905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Transform &amp; Load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→ 2 entity tables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508760" y="2825496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2624328" y="2825496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3877056" y="2825496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5404104" y="2825496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618488" y="3163824"/>
            <a:ext cx="1005840" cy="384048"/>
          </a:xfrm>
          <a:prstGeom prst="roundRect">
            <a:avLst>
              <a:gd name="adj" fmla="val 10000"/>
            </a:avLst>
          </a:prstGeom>
          <a:solidFill>
            <a:srgbClr val="EA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F1F1F"/>
                </a:solidFill>
                <a:latin typeface="DM Sans"/>
              </a:rPr>
              <a:t>Assessment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34056" y="3163824"/>
            <a:ext cx="114300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Extract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count the window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86784" y="3163824"/>
            <a:ext cx="1417320" cy="384048"/>
          </a:xfrm>
          <a:prstGeom prst="roundRect">
            <a:avLst>
              <a:gd name="adj" fmla="val 10000"/>
            </a:avLst>
          </a:prstGeom>
          <a:solidFill>
            <a:srgbClr val="273A80"/>
          </a:solidFill>
          <a:ln w="1905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Transform &amp; Load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Lato"/>
              </a:rPr>
              <a:t>→ 1 entity table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508760" y="3273552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2624328" y="3273552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3877056" y="3273552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5404104" y="3273552"/>
            <a:ext cx="109728" cy="164592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776472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Lato"/>
              </a:rPr>
              <a:t>Every branch is independent — a slow stream never blocks the others, and a shared Airflow pool caps how many transform steps run at once. The gold refresh is triggered only after all five branches succeed, and this DAG completes without waiting for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ORCHESTRATION · DAG 2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73A80"/>
                </a:solidFill>
                <a:latin typeface="DM Sans"/>
              </a:rPr>
              <a:t>Silver to Gold — 13 Refreshes at Once, Then 3 That Wait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1325880"/>
            <a:ext cx="1097280" cy="2121408"/>
          </a:xfrm>
          <a:prstGeom prst="roundRect">
            <a:avLst>
              <a:gd name="adj" fmla="val 10000"/>
            </a:avLst>
          </a:prstGeom>
          <a:solidFill>
            <a:srgbClr val="172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Triggered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when silver lands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32588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200">
                <a:solidFill>
                  <a:srgbClr val="F68521"/>
                </a:solidFill>
                <a:latin typeface="DM Sans"/>
              </a:rPr>
              <a:t>2   </a:t>
            </a:r>
            <a:r>
              <a:rPr b="1" sz="1050">
                <a:solidFill>
                  <a:srgbClr val="FFFFFF"/>
                </a:solidFill>
                <a:latin typeface="DM Sans"/>
              </a:rPr>
              <a:t>Property marts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764792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200">
                <a:solidFill>
                  <a:srgbClr val="F68521"/>
                </a:solidFill>
                <a:latin typeface="DM Sans"/>
              </a:rPr>
              <a:t>3   </a:t>
            </a:r>
            <a:r>
              <a:rPr b="1" sz="1050">
                <a:solidFill>
                  <a:srgbClr val="FFFFFF"/>
                </a:solidFill>
                <a:latin typeface="DM Sans"/>
              </a:rPr>
              <a:t>Demand &amp; collection marts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203704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200">
                <a:solidFill>
                  <a:srgbClr val="F68521"/>
                </a:solidFill>
                <a:latin typeface="DM Sans"/>
              </a:rPr>
              <a:t>1   </a:t>
            </a:r>
            <a:r>
              <a:rPr b="1" sz="1050">
                <a:solidFill>
                  <a:srgbClr val="FFFFFF"/>
                </a:solidFill>
                <a:latin typeface="DM Sans"/>
              </a:rPr>
              <a:t>Demand coverage base mart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32120" y="2313432"/>
            <a:ext cx="137160" cy="146304"/>
          </a:xfrm>
          <a:prstGeom prst="rightArrow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2203704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FFFFFF"/>
                </a:solidFill>
                <a:latin typeface="DM Sans"/>
              </a:rPr>
              <a:t>1 mart-on-mart view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waits for its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2642616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200">
                <a:solidFill>
                  <a:srgbClr val="F68521"/>
                </a:solidFill>
                <a:latin typeface="DM Sans"/>
              </a:rPr>
              <a:t>1   </a:t>
            </a:r>
            <a:r>
              <a:rPr b="1" sz="1050">
                <a:solidFill>
                  <a:srgbClr val="FFFFFF"/>
                </a:solidFill>
                <a:latin typeface="DM Sans"/>
              </a:rPr>
              <a:t>Property change-metrics base mart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32120" y="2752344"/>
            <a:ext cx="137160" cy="146304"/>
          </a:xfrm>
          <a:prstGeom prst="rightArrow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0" y="2642616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FFFFFF"/>
                </a:solidFill>
                <a:latin typeface="DM Sans"/>
              </a:rPr>
              <a:t>2 mart-on-mart views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Lato"/>
              </a:rPr>
              <a:t>wait for their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3081528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200">
                <a:solidFill>
                  <a:srgbClr val="F68521"/>
                </a:solidFill>
                <a:latin typeface="DM Sans"/>
              </a:rPr>
              <a:t>6   </a:t>
            </a:r>
            <a:r>
              <a:rPr b="1" sz="1050">
                <a:solidFill>
                  <a:srgbClr val="FFFFFF"/>
                </a:solidFill>
                <a:latin typeface="DM Sans"/>
              </a:rPr>
              <a:t>Assessment, payment &amp; rebate marts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11880"/>
            <a:ext cx="8321040" cy="365760"/>
          </a:xfrm>
          <a:prstGeom prst="roundRect">
            <a:avLst>
              <a:gd name="adj" fmla="val 20000"/>
            </a:avLst>
          </a:prstGeom>
          <a:solidFill>
            <a:srgbClr val="8A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611880"/>
            <a:ext cx="7955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050">
                <a:solidFill>
                  <a:srgbClr val="FFFFFF"/>
                </a:solidFill>
                <a:latin typeface="DM Sans"/>
              </a:rPr>
              <a:t>END   </a:t>
            </a:r>
            <a:r>
              <a:rPr b="0" sz="1050">
                <a:solidFill>
                  <a:srgbClr val="FFFFFF"/>
                </a:solidFill>
                <a:latin typeface="Lato"/>
              </a:rPr>
              <a:t>a failed mart is isolated — the rest of the wave still lands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69080"/>
            <a:ext cx="8321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Lato"/>
              </a:rPr>
              <a:t>Each refresh is one SQL statement plus a watchdog: Airflow issues it, then polls ClickHouse until the view reports complete. The marts are declared manual-refresh, so Airflow is the only scheduler.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3589020"/>
            <a:ext cx="2377440" cy="2377440"/>
          </a:xfrm>
          <a:prstGeom prst="ellipse">
            <a:avLst/>
          </a:prstGeom>
          <a:noFill/>
          <a:ln w="2540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4091940"/>
            <a:ext cx="1371600" cy="1371600"/>
          </a:xfrm>
          <a:prstGeom prst="ellipse">
            <a:avLst/>
          </a:prstGeom>
          <a:noFill/>
          <a:ln w="25400">
            <a:solidFill>
              <a:srgbClr val="6B8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-822960"/>
            <a:ext cx="1645920" cy="1645920"/>
          </a:xfrm>
          <a:prstGeom prst="ellipse">
            <a:avLst/>
          </a:prstGeom>
          <a:noFill/>
          <a:ln w="25400">
            <a:solidFill>
              <a:srgbClr val="6B8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68521"/>
                </a:solidFill>
                <a:latin typeface="DM Sans"/>
              </a:rPr>
              <a:t>PART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DM Sans"/>
              </a:rPr>
              <a:t>Validated at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1544" y="100584"/>
            <a:ext cx="1033272" cy="44300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VALIDATED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73A80"/>
                </a:solidFill>
                <a:latin typeface="DM Sans"/>
              </a:rPr>
              <a:t>Proven at 10-15× Current Production Volume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371600"/>
            <a:ext cx="190881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190881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68521"/>
                </a:solidFill>
                <a:latin typeface="DM Sans"/>
              </a:rPr>
              <a:t>5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72593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properties validated (~50M)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8890" y="1371600"/>
            <a:ext cx="190881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8890" y="1572768"/>
            <a:ext cx="190881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68521"/>
                </a:solidFill>
                <a:latin typeface="DM Sans"/>
              </a:rPr>
              <a:t>72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0330" y="2286000"/>
            <a:ext cx="172593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PT demands validated (~724M)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6300" y="1371600"/>
            <a:ext cx="190881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6300" y="1572768"/>
            <a:ext cx="190881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68521"/>
                </a:solidFill>
                <a:latin typeface="DM Sans"/>
              </a:rPr>
              <a:t>10 yrs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7740" y="2286000"/>
            <a:ext cx="172593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of historical accumulation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23710" y="1371600"/>
            <a:ext cx="190881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3710" y="1572768"/>
            <a:ext cx="190881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68521"/>
                </a:solidFill>
                <a:latin typeface="DM Sans"/>
              </a:rPr>
              <a:t>10-15×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2286000"/>
            <a:ext cx="172593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F7F7F"/>
                </a:solidFill>
                <a:latin typeface="Lato"/>
              </a:rPr>
              <a:t>current production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337560"/>
            <a:ext cx="8321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F1F1F"/>
                </a:solidFill>
                <a:latin typeface="Lato"/>
              </a:rPr>
              <a:t>Today's production baseline is ~33 lakh properties and ~5 crore demands. The validation dataset was built at 10-15× that volume to prove SakshamIQ holds up at full statewide, multi-year scale.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VALIDATED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73A80"/>
                </a:solidFill>
                <a:latin typeface="DM Sans"/>
              </a:rPr>
              <a:t>Storage Efficiency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188720"/>
          <a:ext cx="493776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532120" y="1188720"/>
            <a:ext cx="32004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371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68521"/>
                </a:solidFill>
                <a:latin typeface="DM Sans"/>
              </a:rPr>
              <a:t>The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7830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ClickHouse holds ~10-15× more data than PostgreSQL's current footprint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...while using ~150 GB against PostgreSQL's ~284 GB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Columnar storage and compression drive the difference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F68521"/>
                </a:solidFill>
                <a:latin typeface="DM Sans"/>
              </a:rPr>
              <a:t>—  </a:t>
            </a:r>
            <a:r>
              <a:rPr sz="1050">
                <a:solidFill>
                  <a:srgbClr val="1F1F1F"/>
                </a:solidFill>
                <a:latin typeface="Lato"/>
              </a:rPr>
              <a:t>150 GB used of 500 GB provisioned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VALIDATED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73A80"/>
                </a:solidFill>
                <a:latin typeface="DM Sans"/>
              </a:rPr>
              <a:t>Query Performance at Full Scale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83210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37360"/>
                <a:gridCol w="1280160"/>
                <a:gridCol w="1280160"/>
              </a:tblGrid>
              <a:tr h="40233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KPI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Dataset Size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Refresh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Peak Mem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Active Property Distribution Summary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~50M properties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~5 sec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~142 MB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New Property Additions by FY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~50M properties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~1 sec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~132 MB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Financial Demand &amp; Collection (FY)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~724M demands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~166 sec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~178 MB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Monthly Collection Trend Summary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~724M demands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~87 sec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~132 MB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Property Demand Coverage Ratio (FY)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~724M demands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~15 sec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~93 MB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Property Tax Defaulters Register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~724M demands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~267 sec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~196 MB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251960"/>
            <a:ext cx="8321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7F7F7F"/>
                </a:solidFill>
                <a:latin typeface="Lato"/>
              </a:rPr>
              <a:t>These aggregations run only during the nightly refresh window. Every dashboard query after that reads an already-computed, lightweight mart.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73A80"/>
                </a:solidFill>
                <a:latin typeface="DM Sans"/>
              </a:rPr>
              <a:t>Validated Airflow Pipeline at Scale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914400"/>
            <a:ext cx="8321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F1F1F"/>
                </a:solidFill>
                <a:latin typeface="Lato"/>
              </a:rPr>
              <a:t>End-to-end orchestration validation across Property, Demand, Bill, Payment and Assessment streams.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4864" cy="822960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749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73A80"/>
                </a:solidFill>
                <a:latin typeface="DM Sans"/>
              </a:rPr>
              <a:t>1M events per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3749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Lato"/>
              </a:rPr>
              <a:t>Property · Demand · Bill · Payment ·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417320"/>
            <a:ext cx="54864" cy="822960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17320"/>
            <a:ext cx="3749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73A80"/>
                </a:solidFill>
                <a:latin typeface="DM Sans"/>
              </a:rPr>
              <a:t>18 min 23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01368"/>
            <a:ext cx="3749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Lato"/>
              </a:rPr>
              <a:t>End-to-end Raw → Silver → Gold pipeline execution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77440"/>
            <a:ext cx="54864" cy="822960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3749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73A80"/>
                </a:solidFill>
                <a:latin typeface="DM Sans"/>
              </a:rPr>
              <a:t>≤ 429 MiB peak worker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61488"/>
            <a:ext cx="3749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Lato"/>
              </a:rPr>
              <a:t>Well below the 1 GiB request / 2 GiB limit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377440"/>
            <a:ext cx="54864" cy="822960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377440"/>
            <a:ext cx="3749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73A80"/>
                </a:solidFill>
                <a:latin typeface="DM Sans"/>
              </a:rPr>
              <a:t>85% peak worker 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61488"/>
            <a:ext cx="3749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Lato"/>
              </a:rPr>
              <a:t>Highest observed utilization during Property transformation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337560"/>
            <a:ext cx="8321040" cy="365760"/>
          </a:xfrm>
          <a:prstGeom prst="roundRect">
            <a:avLst>
              <a:gd name="adj" fmla="val 2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337560"/>
            <a:ext cx="7955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050">
                <a:solidFill>
                  <a:srgbClr val="273A80"/>
                </a:solidFill>
                <a:latin typeface="DM Sans"/>
              </a:rPr>
              <a:t>STABLE CONTROL PLANE   </a:t>
            </a:r>
            <a:r>
              <a:rPr b="0" sz="1050">
                <a:solidFill>
                  <a:srgbClr val="1F1F1F"/>
                </a:solidFill>
                <a:latin typeface="Lato"/>
              </a:rPr>
              <a:t>API Server, Scheduler, DAG Processor, Triggerer and PostgreSQL showed limited resource increases.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776472"/>
            <a:ext cx="8321040" cy="384048"/>
          </a:xfrm>
          <a:prstGeom prst="roundRect">
            <a:avLst>
              <a:gd name="adj" fmla="val 20000"/>
            </a:avLst>
          </a:prstGeom>
          <a:solidFill>
            <a:srgbClr val="FC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76472"/>
            <a:ext cx="7955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050">
                <a:solidFill>
                  <a:srgbClr val="1F1F1F"/>
                </a:solidFill>
                <a:latin typeface="Lato"/>
              </a:rPr>
              <a:t>Result: Airflow successfully orchestrated the pipeline within configured worker and control-plane limits.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3589020"/>
            <a:ext cx="2377440" cy="2377440"/>
          </a:xfrm>
          <a:prstGeom prst="ellipse">
            <a:avLst/>
          </a:prstGeom>
          <a:noFill/>
          <a:ln w="25400">
            <a:solidFill>
              <a:srgbClr val="F68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4091940"/>
            <a:ext cx="1371600" cy="1371600"/>
          </a:xfrm>
          <a:prstGeom prst="ellipse">
            <a:avLst/>
          </a:prstGeom>
          <a:noFill/>
          <a:ln w="25400">
            <a:solidFill>
              <a:srgbClr val="6B8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-822960"/>
            <a:ext cx="1645920" cy="1645920"/>
          </a:xfrm>
          <a:prstGeom prst="ellipse">
            <a:avLst/>
          </a:prstGeom>
          <a:noFill/>
          <a:ln w="25400">
            <a:solidFill>
              <a:srgbClr val="6B8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68521"/>
                </a:solidFill>
                <a:latin typeface="DM Sans"/>
              </a:rPr>
              <a:t>PART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DM Sans"/>
              </a:rPr>
              <a:t>Governance &amp;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1544" y="100584"/>
            <a:ext cx="1033272" cy="44300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GOVERNANCE &amp;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73A80"/>
                </a:solidFill>
                <a:latin typeface="DM Sans"/>
              </a:rPr>
              <a:t>Access, Privacy &amp; Auditability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Role-Based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Enforced for every user across the datastore.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8343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383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63830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Tenant Row-Level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88518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Strict multi-tenant isolation at the row level.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7017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25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22504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Least-Privilege Writes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47192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Write access limited to orchestration services and DBAs.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5691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117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281178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PII Excluded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05866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Sensitive personal information never reaches analytics.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34365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98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39852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Jurisdiction-Based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64540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Data access is scoped and restricted by jurisdiction.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930396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9852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852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Full Query 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232148"/>
            <a:ext cx="4956048" cy="22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Every query logged and attributable; runaway-query guardrails.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27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ctagon 30"/>
          <p:cNvSpPr/>
          <p:nvPr/>
        </p:nvSpPr>
        <p:spPr>
          <a:xfrm>
            <a:off x="7068312" y="2450592"/>
            <a:ext cx="585216" cy="585216"/>
          </a:xfrm>
          <a:prstGeom prst="oct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GOVERNANCE &amp;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73A80"/>
                </a:solidFill>
                <a:latin typeface="DM Sans"/>
              </a:rPr>
              <a:t>Responsible AI &amp; Data Classification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051560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Purpose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8448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Every dataset tagged Operational, Policy Evaluation, or Research/AI.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00784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556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55648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AI Eligibility Tagging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02536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Datasets marked AI-Eligible, AI-Restricted, or AI-Prohibited.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04872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597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459736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Anonymization for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706624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Tokenization, salted hashing, and generalization before any AI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108960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16382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163824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Human-in-the-Loop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410712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Research/AI access needs governance committee sign-off, time-bound.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813048"/>
            <a:ext cx="539496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867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867912"/>
            <a:ext cx="4956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Versioned &amp; Traceable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114800"/>
            <a:ext cx="495604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Datasets like pt_silver_v3 carry batch-level lineage end to end.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2011680"/>
            <a:ext cx="1463040" cy="1463040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un 26"/>
          <p:cNvSpPr/>
          <p:nvPr/>
        </p:nvSpPr>
        <p:spPr>
          <a:xfrm>
            <a:off x="7068312" y="2450592"/>
            <a:ext cx="585216" cy="585216"/>
          </a:xfrm>
          <a:prstGeom prst="su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GOVERNANCE &amp;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73A80"/>
                </a:solidFill>
                <a:latin typeface="DM Sans"/>
              </a:rPr>
              <a:t>Schema Evolution, Handled Safely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C25E0E"/>
                </a:solidFill>
                <a:latin typeface="DM Sans"/>
              </a:rPr>
              <a:t>Raw Layer — Flexible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977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F68521"/>
                </a:solidFill>
                <a:latin typeface="DM Sans"/>
              </a:rPr>
              <a:t>—  </a:t>
            </a:r>
            <a:r>
              <a:rPr sz="1100">
                <a:solidFill>
                  <a:srgbClr val="1F1F1F"/>
                </a:solidFill>
                <a:latin typeface="Lato"/>
              </a:rPr>
              <a:t>Semi-structured JSON, no fixed column binding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68521"/>
                </a:solidFill>
                <a:latin typeface="DM Sans"/>
              </a:rPr>
              <a:t>—  </a:t>
            </a:r>
            <a:r>
              <a:rPr sz="1100">
                <a:solidFill>
                  <a:srgbClr val="1F1F1F"/>
                </a:solidFill>
                <a:latin typeface="Lato"/>
              </a:rPr>
              <a:t>Upstream field changes never break ingestion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68521"/>
                </a:solidFill>
                <a:latin typeface="DM Sans"/>
              </a:rPr>
              <a:t>—  </a:t>
            </a:r>
            <a:r>
              <a:rPr sz="1100">
                <a:solidFill>
                  <a:srgbClr val="1F1F1F"/>
                </a:solidFill>
                <a:latin typeface="Lato"/>
              </a:rPr>
              <a:t>Original payload preserved for replay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05156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73A80"/>
                </a:solidFill>
                <a:latin typeface="DM Sans"/>
              </a:rPr>
              <a:t>Silver &amp; Gold — Versioned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1463040"/>
            <a:ext cx="39776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F68521"/>
                </a:solidFill>
                <a:latin typeface="DM Sans"/>
              </a:rPr>
              <a:t>—  </a:t>
            </a:r>
            <a:r>
              <a:rPr sz="1100">
                <a:solidFill>
                  <a:srgbClr val="1F1F1F"/>
                </a:solidFill>
                <a:latin typeface="Lato"/>
              </a:rPr>
              <a:t>Any structural or KPI-logic change increments the version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68521"/>
                </a:solidFill>
                <a:latin typeface="DM Sans"/>
              </a:rPr>
              <a:t>—  </a:t>
            </a:r>
            <a:r>
              <a:rPr sz="1100">
                <a:solidFill>
                  <a:srgbClr val="1F1F1F"/>
                </a:solidFill>
                <a:latin typeface="Lato"/>
              </a:rPr>
              <a:t>e.g. property_address_entity_v1 → v2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68521"/>
                </a:solidFill>
                <a:latin typeface="DM Sans"/>
              </a:rPr>
              <a:t>—  </a:t>
            </a:r>
            <a:r>
              <a:rPr sz="1100">
                <a:solidFill>
                  <a:srgbClr val="1F1F1F"/>
                </a:solidFill>
                <a:latin typeface="Lato"/>
              </a:rPr>
              <a:t>Dependent marts version alongside (mart_defaulters_v1 → v2)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68521"/>
                </a:solidFill>
                <a:latin typeface="DM Sans"/>
              </a:rPr>
              <a:t>—  </a:t>
            </a:r>
            <a:r>
              <a:rPr sz="1100">
                <a:solidFill>
                  <a:srgbClr val="1F1F1F"/>
                </a:solidFill>
                <a:latin typeface="Lato"/>
              </a:rPr>
              <a:t>Prior versions stay live through a controlled transition 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7" y="1051560"/>
            <a:ext cx="12700" cy="32918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83464"/>
            <a:ext cx="100584" cy="100584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7F7F7F"/>
                </a:solidFill>
                <a:latin typeface="DM Sans"/>
              </a:rP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12064"/>
            <a:ext cx="64008" cy="384048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75488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73A80"/>
                </a:solidFill>
                <a:latin typeface="DM Sans"/>
              </a:rPr>
              <a:t>Three Reasons This Architecture Wins</a:t>
            </a:r>
          </a:p>
        </p:txBody>
      </p:sp>
      <p:pic>
        <p:nvPicPr>
          <p:cNvPr id="6" name="Picture 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1430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143000"/>
            <a:ext cx="7882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Replayable &amp; Auditable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389888"/>
            <a:ext cx="7882128" cy="289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Raw data is immutable — silver can always be rebuilt from bronze if logic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43456"/>
            <a:ext cx="832104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983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98320"/>
            <a:ext cx="7882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Fast, Reliable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45208"/>
            <a:ext cx="7882128" cy="289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Gold marts are pre-aggregated — dashboards read finished numbers at constant latency.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98776"/>
            <a:ext cx="832104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536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68521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453640"/>
            <a:ext cx="7882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1F1F"/>
                </a:solidFill>
                <a:latin typeface="DM Sans"/>
              </a:rPr>
              <a:t>Room for Analysts to 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700528"/>
            <a:ext cx="7882128" cy="289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Lato"/>
              </a:rPr>
              <a:t>Silver is directly queryable — new questions don't need a pipeline change first.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11480" y="3337560"/>
          <a:ext cx="83210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108960"/>
                <a:gridCol w="3474720"/>
              </a:tblGrid>
              <a:tr h="2926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Layer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Primary Audience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DM Sans"/>
                        </a:rPr>
                        <a:t>Typical Use</a:t>
                      </a:r>
                    </a:p>
                  </a:txBody>
                  <a:tcPr marT="50800" marB="50800">
                    <a:solidFill>
                      <a:srgbClr val="273A8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Bronze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Data engineers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Debugging, replay, audit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Silver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Data / business analysts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Ad hoc, exploratory queries</a:t>
                      </a:r>
                    </a:p>
                  </a:txBody>
                  <a:tcPr marT="38100" marB="38100">
                    <a:solidFill>
                      <a:srgbClr val="F7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Gold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Business analysts, leadership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  <a:latin typeface="Lato"/>
                        </a:rPr>
                        <a:t>Dashboards, reporting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68521"/>
                </a:solidFill>
                <a:latin typeface="DM San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DM Sans"/>
              </a:rPr>
              <a:t>Where SakshamIQ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583180"/>
            <a:ext cx="8321040" cy="19050"/>
          </a:xfrm>
          <a:prstGeom prst="rect">
            <a:avLst/>
          </a:prstGeom>
          <a:solidFill>
            <a:srgbClr val="6B8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8972" y="2331720"/>
            <a:ext cx="502920" cy="502920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172A61"/>
                </a:solidFill>
                <a:latin typeface="DM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99232"/>
            <a:ext cx="1517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Punjab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364992"/>
            <a:ext cx="15179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Analytical datastore</a:t>
            </a:r>
          </a:p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live statewide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68521"/>
                </a:solidFill>
                <a:latin typeface="DM Sans"/>
              </a:rPr>
              <a:t>March</a:t>
            </a:r>
          </a:p>
        </p:txBody>
      </p:sp>
      <p:sp>
        <p:nvSpPr>
          <p:cNvPr id="9" name="Oval 8"/>
          <p:cNvSpPr/>
          <p:nvPr/>
        </p:nvSpPr>
        <p:spPr>
          <a:xfrm>
            <a:off x="2619756" y="2331720"/>
            <a:ext cx="502920" cy="502920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172A61"/>
                </a:solidFill>
                <a:latin typeface="DM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2264" y="2999232"/>
            <a:ext cx="1517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Open Data Sharing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264" y="3364992"/>
            <a:ext cx="15179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Interoperable, open-</a:t>
            </a:r>
          </a:p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format data exchange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2264" y="201168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68521"/>
                </a:solidFill>
                <a:latin typeface="DM Sans"/>
              </a:rPr>
              <a:t>TBD</a:t>
            </a:r>
          </a:p>
        </p:txBody>
      </p:sp>
      <p:sp>
        <p:nvSpPr>
          <p:cNvPr id="13" name="Oval 12"/>
          <p:cNvSpPr/>
          <p:nvPr/>
        </p:nvSpPr>
        <p:spPr>
          <a:xfrm>
            <a:off x="4320540" y="2331720"/>
            <a:ext cx="502920" cy="502920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172A61"/>
                </a:solidFill>
                <a:latin typeface="DM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999232"/>
            <a:ext cx="1517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Module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364992"/>
            <a:ext cx="15179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Onboard more urban</a:t>
            </a:r>
          </a:p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modules onto the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01168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68521"/>
                </a:solidFill>
                <a:latin typeface="DM Sans"/>
              </a:rPr>
              <a:t>TBD</a:t>
            </a:r>
          </a:p>
        </p:txBody>
      </p:sp>
      <p:sp>
        <p:nvSpPr>
          <p:cNvPr id="17" name="Oval 16"/>
          <p:cNvSpPr/>
          <p:nvPr/>
        </p:nvSpPr>
        <p:spPr>
          <a:xfrm>
            <a:off x="6021324" y="2331720"/>
            <a:ext cx="502920" cy="502920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172A61"/>
                </a:solidFill>
                <a:latin typeface="DM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2999232"/>
            <a:ext cx="1517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AI-Driven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3364992"/>
            <a:ext cx="15179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Introduce AI/ML on</a:t>
            </a:r>
          </a:p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top of governed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01168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68521"/>
                </a:solidFill>
                <a:latin typeface="DM Sans"/>
              </a:rPr>
              <a:t>TBD</a:t>
            </a:r>
          </a:p>
        </p:txBody>
      </p:sp>
      <p:sp>
        <p:nvSpPr>
          <p:cNvPr id="21" name="Oval 20"/>
          <p:cNvSpPr/>
          <p:nvPr/>
        </p:nvSpPr>
        <p:spPr>
          <a:xfrm>
            <a:off x="7722108" y="2331720"/>
            <a:ext cx="502920" cy="502920"/>
          </a:xfrm>
          <a:prstGeom prst="ellipse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172A61"/>
                </a:solidFill>
                <a:latin typeface="DM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4616" y="2999232"/>
            <a:ext cx="1517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Standardization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3364992"/>
            <a:ext cx="15179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Common data models</a:t>
            </a:r>
          </a:p>
          <a:p>
            <a:pPr algn="ctr"/>
            <a:r>
              <a:rPr sz="850" b="0" i="0">
                <a:solidFill>
                  <a:srgbClr val="C9D2EC"/>
                </a:solidFill>
                <a:latin typeface="Lato"/>
              </a:rPr>
              <a:t>&amp; KPIs statewide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201168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68521"/>
                </a:solidFill>
                <a:latin typeface="DM Sans"/>
              </a:rPr>
              <a:t>TBD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81544" y="100584"/>
            <a:ext cx="1033272" cy="44300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gov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"/>
            <a:ext cx="868680" cy="2784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273A80"/>
                </a:solidFill>
                <a:latin typeface="DM Sans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60520" y="2606040"/>
            <a:ext cx="822960" cy="31750"/>
          </a:xfrm>
          <a:prstGeom prst="rect">
            <a:avLst/>
          </a:prstGeom>
          <a:solidFill>
            <a:srgbClr val="F68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Lato"/>
              </a:rPr>
              <a:t>SakshamIQ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